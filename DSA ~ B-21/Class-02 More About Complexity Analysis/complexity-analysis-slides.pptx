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DC78D54-6915-4378-A96A-827B0C334992}">
  <a:tblStyle styleId="{7DC78D54-6915-4378-A96A-827B0C33499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c9eebb8259_4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c9eebb8259_4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c9eebb8259_4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c9eebb8259_4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g3c9eebb8259_4_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g3c9eebb8259_4_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c9eebb8259_4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g3c9eebb8259_4_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g3c9eebb8259_4_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9eebb8259_4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3c9eebb8259_4_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g3c9eebb8259_4_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9eebb8259_4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c9eebb8259_4_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c9eebb8259_4_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9eebb8259_4_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c9eebb8259_4_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c9eebb8259_4_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9eebb8259_4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c9eebb8259_4_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c9eebb8259_4_8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9eebb8259_4_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g3c9eebb8259_4_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c9eebb8259_4_9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9eebb8259_4_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c9eebb8259_4_1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c9eebb8259_4_1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9eebb8259_4_1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c9eebb8259_4_1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c9eebb8259_4_1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c9eebb8259_4_1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c9eebb8259_4_1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c9eebb8259_4_1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c9eebb8259_4_1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c9eebb8259_4_1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c9eebb8259_4_1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c9eebb8259_4_1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3c9eebb8259_4_1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c9eebb8259_4_1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c9eebb8259_4_1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c9eebb8259_4_1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c9eebb8259_4_18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c9eebb8259_4_1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3c9eebb8259_4_1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c9eebb8259_4_19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c9eebb8259_4_2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3c9eebb8259_4_20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c9eebb8259_4_20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c9eebb8259_4_2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3c9eebb8259_4_2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c9eebb8259_4_2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c9eebb8259_4_2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g3c9eebb8259_4_2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c9eebb8259_4_2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c9eebb8259_4_2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3c9eebb8259_4_2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c9eebb8259_4_2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c9eebb8259_4_2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g3c9eebb8259_4_2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c9eebb8259_4_2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c9eebb8259_4_2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g3c9eebb8259_4_2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c9eebb8259_4_2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c9eebb8259_4_2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g3c9eebb8259_4_2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c9eebb8259_4_2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c9eebb8259_4_2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g3c9eebb8259_4_2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c9eebb8259_4_29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c9eebb8259_4_3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g3c9eebb8259_4_3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3c9eebb8259_4_30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c9eebb8259_4_3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g3c9eebb8259_4_3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g3c9eebb8259_4_3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c9eebb8259_4_3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g3c9eebb8259_4_3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g3c9eebb8259_4_3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c9eebb8259_4_3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g3c9eebb8259_4_3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3c9eebb8259_4_3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c9eebb8259_4_3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g3c9eebb8259_4_3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g3c9eebb8259_4_3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c9eebb8259_4_3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g3c9eebb8259_4_3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3c9eebb8259_4_37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c9eebb8259_4_3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g3c9eebb8259_4_3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g3c9eebb8259_4_38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c9eebb8259_4_4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g3c9eebb8259_4_4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g3c9eebb8259_4_4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c9eebb8259_4_4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g3c9eebb8259_4_4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g3c9eebb8259_4_4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c9eebb8259_4_4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g3c9eebb8259_4_4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g3c9eebb8259_4_4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c9eebb8259_4_4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g3c9eebb8259_4_4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g3c9eebb8259_4_4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c9eebb8259_4_4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4" name="Google Shape;524;g3c9eebb8259_4_4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g3c9eebb8259_4_47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c9eebb8259_4_4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5" name="Google Shape;535;g3c9eebb8259_4_4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g3c9eebb8259_4_48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c9eebb8259_4_5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6" name="Google Shape;566;g3c9eebb8259_4_5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g3c9eebb8259_4_5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c9eebb8259_4_5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7" name="Google Shape;597;g3c9eebb8259_4_5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g3c9eebb8259_4_5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c9eebb8259_4_5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4" name="Google Shape;624;g3c9eebb8259_4_5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g3c9eebb8259_4_5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7132320" y="457200"/>
            <a:ext cx="1828800" cy="1828800"/>
          </a:xfrm>
          <a:prstGeom prst="ellipse">
            <a:avLst/>
          </a:prstGeom>
          <a:solidFill>
            <a:srgbClr val="0D9488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731520" y="91440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Trebuchet MS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COMPLEXITY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31520" y="182880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4600"/>
              <a:buFont typeface="Trebuchet MS"/>
              <a:buNone/>
            </a:pPr>
            <a:r>
              <a:rPr b="1" i="0" lang="en-US" sz="4600" u="none" cap="none" strike="noStrike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ANALYSIS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31520" y="28346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Interview এর জন্য Complete Guide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731520" y="3474720"/>
            <a:ext cx="18288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731520" y="37490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 Parts  •  30+ Slides  •  Blog Series Recap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3657600" y="731520"/>
            <a:ext cx="1828800" cy="1828800"/>
          </a:xfrm>
          <a:prstGeom prst="ellipse">
            <a:avLst/>
          </a:prstGeom>
          <a:solidFill>
            <a:srgbClr val="0D9488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3657600" y="731520"/>
            <a:ext cx="1828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Part 1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Time Complexity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তোমার Program কত সময় নিচ্ছে?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কেন Complexity Analysis শিখবে?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457200" y="914400"/>
            <a:ext cx="393192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457200" y="914400"/>
            <a:ext cx="393192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640080" y="93268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Interview Scenario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640080" y="1508760"/>
            <a:ext cx="35661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"What's the time complexity?"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br>
              <a:rPr b="0" i="0" lang="en-US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তুমি চুপ। মাথা ফাঁকা। পেটে চিনচিন।</a:t>
            </a:r>
            <a:br>
              <a:rPr b="0" i="0" lang="en-US" sz="1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br>
              <a:rPr b="0" i="0" lang="en-US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"Can you optimize it?"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b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এই situation যেন না হয়,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তার জন্যই এই lecture।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4754880" y="914400"/>
            <a:ext cx="393192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4754880" y="914400"/>
            <a:ext cx="393192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4937760" y="93268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Real-World Impact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4937760" y="1508760"/>
            <a:ext cx="35661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Database: </a:t>
            </a: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10 লাখ row → efficient = ms, bad = 30s</a:t>
            </a:r>
            <a:b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Scalability: </a:t>
            </a: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1K user ok, 1M user = crash</a:t>
            </a:r>
            <a:b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Mobile: </a:t>
            </a: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সীমিত memory → bad code = hang</a:t>
            </a:r>
            <a:b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Interview: </a:t>
            </a: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FAANG → complexity is non-negotiable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6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গল্প দিয়ে শুরু — Harry Potter খুঁজতে হবে!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ঘরে n টা বই এলোমেলোভাবে জমানো। খুঁজে বের করো "Harry Potter"!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457200" y="1188720"/>
            <a:ext cx="384048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6"/>
          <p:cNvSpPr/>
          <p:nvPr/>
        </p:nvSpPr>
        <p:spPr>
          <a:xfrm>
            <a:off x="457200" y="1188720"/>
            <a:ext cx="384048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640080" y="1207008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কী করবে?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640080" y="1737360"/>
            <a:ext cx="34747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একটা একটা বই তুলে দেখবে 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"এটা Harry Potter? না।"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"এটা? না।"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"এটা? হ্যাঁ!"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যতক্ষণ না পাও, দেখতেই থাকো।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640080" y="347472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Trebuchet MS"/>
                <a:ea typeface="Trebuchet MS"/>
                <a:cs typeface="Trebuchet MS"/>
                <a:sym typeface="Trebuchet MS"/>
              </a:rPr>
              <a:t>Worst case: সবগুলো n টা বই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Trebuchet MS"/>
                <a:ea typeface="Trebuchet MS"/>
                <a:cs typeface="Trebuchet MS"/>
                <a:sym typeface="Trebuchet MS"/>
              </a:rPr>
              <a:t>দেখতে হবে → n steps!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"/>
          <p:cNvSpPr/>
          <p:nvPr/>
        </p:nvSpPr>
        <p:spPr>
          <a:xfrm>
            <a:off x="4754880" y="1188720"/>
            <a:ext cx="3931920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/>
          <p:cNvSpPr/>
          <p:nvPr/>
        </p:nvSpPr>
        <p:spPr>
          <a:xfrm>
            <a:off x="4937760" y="1207008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 টা Scenario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4937760" y="1737360"/>
            <a:ext cx="35661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Best Case: </a:t>
            </a: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উপরেই আছে → 1 step</a:t>
            </a:r>
            <a:b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Average Case: </a:t>
            </a: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মাঝামাঝি → ~n/2 steps</a:t>
            </a:r>
            <a:b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Worst Case: </a:t>
            </a: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একদম শেষে → n steps</a:t>
            </a:r>
            <a:b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n=10 → worst 10 বই দেখা</a:t>
            </a:r>
            <a:b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n=100 → worst 100 বই দেখা</a:t>
            </a:r>
            <a:b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n=10,000 → worst 10,000 বই!</a:t>
            </a:r>
            <a:b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বই বাড়লে কাজও বাড়ে — সোজাসাপ্টা!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Number Guessing Game — বোকা vs চালাক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1 থেকে 1000 এর মধ্যে আমি একটা number ভেবেছি। তুমি guess করো!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457200" y="1188720"/>
            <a:ext cx="384048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7"/>
          <p:cNvSpPr/>
          <p:nvPr/>
        </p:nvSpPr>
        <p:spPr>
          <a:xfrm>
            <a:off x="457200" y="1188720"/>
            <a:ext cx="384048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7"/>
          <p:cNvSpPr/>
          <p:nvPr/>
        </p:nvSpPr>
        <p:spPr>
          <a:xfrm>
            <a:off x="457200" y="118872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বোকা Approach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640080" y="1737360"/>
            <a:ext cx="3474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1, 2, 3, 4, 5... একটা একটা try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আমি ভেবেছি 998?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→ তোমার 998 টা guess লাগবে!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Worst case: 1000 guess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(পুরো range cover)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4754880" y="1188720"/>
            <a:ext cx="393192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"/>
          <p:cNvSpPr/>
          <p:nvPr/>
        </p:nvSpPr>
        <p:spPr>
          <a:xfrm>
            <a:off x="4754880" y="1188720"/>
            <a:ext cx="3931920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"/>
          <p:cNvSpPr/>
          <p:nvPr/>
        </p:nvSpPr>
        <p:spPr>
          <a:xfrm>
            <a:off x="4754880" y="118872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চালাক Approach — অর্ধেক বাদ!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4937760" y="1737360"/>
            <a:ext cx="35661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500 বললে → "কম" → 500 টা বাদ!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250 বললে → "বেশি" → আবার অর্ধেক বাদ!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1000→500→250→125→63→32→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16→8→4→2→1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মাত্র ~10 guess!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3" name="Google Shape;83;p7"/>
          <p:cNvGraphicFramePr/>
          <p:nvPr/>
        </p:nvGraphicFramePr>
        <p:xfrm>
          <a:off x="457200" y="411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{7DC78D54-6915-4378-A96A-827B0C334992}</a:tableStyleId>
              </a:tblPr>
              <a:tblGrid>
                <a:gridCol w="2743200"/>
                <a:gridCol w="2743200"/>
                <a:gridCol w="2743200"/>
              </a:tblGrid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Range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বোকা (step)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চালাক (step)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→ 1,000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2C5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~10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→ 10,00,000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10,00,000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2C5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~20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8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কেন সেকেন্ড দিয়ে মাপি না? — Variable n দিয়ে কেন?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8"/>
          <p:cNvSpPr/>
          <p:nvPr/>
        </p:nvSpPr>
        <p:spPr>
          <a:xfrm>
            <a:off x="457200" y="822960"/>
            <a:ext cx="384048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8"/>
          <p:cNvSpPr/>
          <p:nvPr/>
        </p:nvSpPr>
        <p:spPr>
          <a:xfrm>
            <a:off x="457200" y="822960"/>
            <a:ext cx="54864" cy="2286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8"/>
          <p:cNvSpPr/>
          <p:nvPr/>
        </p:nvSpPr>
        <p:spPr>
          <a:xfrm>
            <a:off x="685800" y="8686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কারণ ১: Input Size Change হয়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685800" y="1280160"/>
            <a:ext cx="34747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আজকে n = 100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কাল n = 1 লাখ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পরশু n = 1 কোটি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"500 টা operation" বললে — কোন n এর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জন্য? n change হলে তো সব বদলায়!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তাই n এর ভিত্তিতে বলি।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4754880" y="822960"/>
            <a:ext cx="393192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8"/>
          <p:cNvSpPr/>
          <p:nvPr/>
        </p:nvSpPr>
        <p:spPr>
          <a:xfrm>
            <a:off x="4754880" y="822960"/>
            <a:ext cx="54864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8"/>
          <p:cNvSpPr/>
          <p:nvPr/>
        </p:nvSpPr>
        <p:spPr>
          <a:xfrm>
            <a:off x="4983480" y="8686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কারণ ২: Machine Speed আলাদা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8"/>
          <p:cNvSpPr/>
          <p:nvPr/>
        </p:nvSpPr>
        <p:spPr>
          <a:xfrm>
            <a:off x="4983480" y="1280160"/>
            <a:ext cx="34747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Machine A: 1 কোটি op/sec → 1 sec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Machine B: 1 কোটি op/5 sec → 5 sec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Same code, same n = 1 কোটি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কিন্তু সময় আলাদা!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"1.5 sec" শুধু তোমার machine এ সত্য,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"n টা operation" সব machine এ সত্য!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457200" y="3337560"/>
            <a:ext cx="8229600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8"/>
          <p:cNvSpPr/>
          <p:nvPr/>
        </p:nvSpPr>
        <p:spPr>
          <a:xfrm>
            <a:off x="640080" y="338328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তাহলে কী করি?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640080" y="3749040"/>
            <a:ext cx="7863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সেকেন্ড দিয়ে মাপি না → </a:t>
            </a: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machine dependent!</a:t>
            </a:r>
            <a:b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Input size n এর ভিত্তিতে operation সংখ্যা দিয়ে মাপি → </a:t>
            </a: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machine independent!</a:t>
            </a:r>
            <a:b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"n টা operation" → সব machine এ সত্য। এটাই Big O এর core idea!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9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Big O Notation — পুরো Game এর Foundation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457200" y="777240"/>
            <a:ext cx="5029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O(n) মানে:</a:t>
            </a:r>
            <a:b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Worst case এও n operation এর বেশি লাগবে না।</a:t>
            </a:r>
            <a:b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Upper bound — একটা guarantee!</a:t>
            </a:r>
            <a:b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"30 min এ পৌঁছাবো" → 15 min এও পারি,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কিন্তু 30 min cross হবে না। Big O ও তাই!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5760720" y="777240"/>
            <a:ext cx="2926080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9"/>
          <p:cNvSpPr/>
          <p:nvPr/>
        </p:nvSpPr>
        <p:spPr>
          <a:xfrm>
            <a:off x="5760720" y="777240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5000"/>
              <a:buFont typeface="Trebuchet MS"/>
              <a:buNone/>
            </a:pPr>
            <a:r>
              <a:rPr b="1" i="0" lang="en-US" sz="5000" u="none" cap="none" strike="noStrike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O(n)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5760720" y="160020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Upper Bound (Worst Case)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457200" y="242316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Big O Rules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4" name="Google Shape;114;p9"/>
          <p:cNvGraphicFramePr/>
          <p:nvPr/>
        </p:nvGraphicFramePr>
        <p:xfrm>
          <a:off x="457200" y="2788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{7DC78D54-6915-4378-A96A-827B0C334992}</a:tableStyleId>
              </a:tblPr>
              <a:tblGrid>
                <a:gridCol w="3657600"/>
                <a:gridCol w="4572000"/>
              </a:tblGrid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Rule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Example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D948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Rule 1: Constants Drop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O(2n) → O(n), O(100) → O(1)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D948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Rule 2: Dominant Term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O(n² + n) → O(n²)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D948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Rule 3: Different Inputs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a, b আলাদা → O(m × n), O(n²) না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D948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Rule 4: Sequential = Add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O(n) + O(n²) → O(n²)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O(1) — Constant Time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n = 100 হোক বা 1 কোটি — operation সবসময় fixed!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0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Problem: 1 + 2 + ... + n বের করো (Formula দিয়ে)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0"/>
          <p:cNvSpPr/>
          <p:nvPr/>
        </p:nvSpPr>
        <p:spPr>
          <a:xfrm>
            <a:off x="457200" y="1508760"/>
            <a:ext cx="4114800" cy="731520"/>
          </a:xfrm>
          <a:prstGeom prst="roundRect">
            <a:avLst>
              <a:gd fmla="val 10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0"/>
          <p:cNvSpPr/>
          <p:nvPr/>
        </p:nvSpPr>
        <p:spPr>
          <a:xfrm>
            <a:off x="594360" y="160020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int sum = n * (n + 1) / 2;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cout &lt;&lt; sum;  // একটা line!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// 3 operations — n যাই হোক → O(1)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0"/>
          <p:cNvSpPr/>
          <p:nvPr/>
        </p:nvSpPr>
        <p:spPr>
          <a:xfrm>
            <a:off x="4846320" y="1508760"/>
            <a:ext cx="38404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O(1) মানে?</a:t>
            </a:r>
            <a:b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Operation count কোনো variable এর</a:t>
            </a:r>
            <a:b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উপর depend করে না। সবসময় same!</a:t>
            </a:r>
            <a:b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3 ops, 30 ops — যাই হোক,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fixed হলেই O(1)।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7" name="Google Shape;127;p10"/>
          <p:cNvGraphicFramePr/>
          <p:nvPr/>
        </p:nvGraphicFramePr>
        <p:xfrm>
          <a:off x="457200" y="3108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{7DC78D54-6915-4378-A96A-827B0C334992}</a:tableStyleId>
              </a:tblPr>
              <a:tblGrid>
                <a:gridCol w="2286000"/>
                <a:gridCol w="2971800"/>
                <a:gridCol w="2971800"/>
              </a:tblGrid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Loop — O(n)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Formula — O(1)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Trebuchet MS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100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 ops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2C5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ops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Trebuchet MS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1,00,000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লাখ ops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2C5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ops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Trebuchet MS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1,00,00,000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কোটি ops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2C5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ops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8" name="Google Shape;128;p10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Same কাজ, same answer — আকাশ-পাতাল performance পার্থক্য!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O(n) — Linear Time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n বাড়লে operation সমান হারে বাড়ে — সোজাসাপ্টা!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1"/>
          <p:cNvSpPr/>
          <p:nvPr/>
        </p:nvSpPr>
        <p:spPr>
          <a:xfrm>
            <a:off x="457200" y="11430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 1: 1 থেকে n যোগফল (Loop)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1"/>
          <p:cNvSpPr/>
          <p:nvPr/>
        </p:nvSpPr>
        <p:spPr>
          <a:xfrm>
            <a:off x="457200" y="1463040"/>
            <a:ext cx="4023360" cy="822960"/>
          </a:xfrm>
          <a:prstGeom prst="roundRect">
            <a:avLst>
              <a:gd fmla="val 8889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1"/>
          <p:cNvSpPr/>
          <p:nvPr/>
        </p:nvSpPr>
        <p:spPr>
          <a:xfrm>
            <a:off x="594360" y="1554480"/>
            <a:ext cx="3749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int sum = 0;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for (int i = 1; i &lt;= n; i++)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sum += i;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// Loop n বার → O(n)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1"/>
          <p:cNvSpPr/>
          <p:nvPr/>
        </p:nvSpPr>
        <p:spPr>
          <a:xfrm>
            <a:off x="4846320" y="11430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 2: Linear Search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4846320" y="1463040"/>
            <a:ext cx="3840480" cy="822960"/>
          </a:xfrm>
          <a:prstGeom prst="roundRect">
            <a:avLst>
              <a:gd fmla="val 8889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1"/>
          <p:cNvSpPr/>
          <p:nvPr/>
        </p:nvSpPr>
        <p:spPr>
          <a:xfrm>
            <a:off x="4983480" y="1554480"/>
            <a:ext cx="3566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for (int i = 0; i &lt; n; i++)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if (arr[i] == target)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    return i;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// Worst: n checks → O(n)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1"/>
          <p:cNvSpPr/>
          <p:nvPr/>
        </p:nvSpPr>
        <p:spPr>
          <a:xfrm>
            <a:off x="457200" y="25146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 3: 26 × n = O(n), O(26n) না!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457200" y="2834640"/>
            <a:ext cx="5029200" cy="914400"/>
          </a:xfrm>
          <a:prstGeom prst="roundRect">
            <a:avLst>
              <a:gd fmla="val 8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1"/>
          <p:cNvSpPr/>
          <p:nvPr/>
        </p:nvSpPr>
        <p:spPr>
          <a:xfrm>
            <a:off x="594360" y="2926080"/>
            <a:ext cx="4754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for (char c = 'a'; c &lt;= 'z'; c++) {   // 26 বার (fixed!)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for (int i = 0; i &lt; n; i++) {    // n বার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    if (s[i] == c) count[c]++;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}  // 26 × n → constant 26 drop → O(n)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5760720" y="2834640"/>
            <a:ext cx="29260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26 হলো constant factor!</a:t>
            </a:r>
            <a:b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 এর সাথে বাড়ে না — সবসময় 26।</a:t>
            </a:r>
            <a:b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তাই Big O তে বাদ → O(n)।</a:t>
            </a:r>
            <a:b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যদি বাইরের loop n বার ঘুরতো → O(n²)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O(n²) — Quadratic Time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Nested loop → গুণ করো! দুটো loop n বার → n × n = n²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2"/>
          <p:cNvSpPr/>
          <p:nvPr/>
        </p:nvSpPr>
        <p:spPr>
          <a:xfrm>
            <a:off x="457200" y="11430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 1: All Pairs Print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2"/>
          <p:cNvSpPr/>
          <p:nvPr/>
        </p:nvSpPr>
        <p:spPr>
          <a:xfrm>
            <a:off x="457200" y="1463040"/>
            <a:ext cx="4023360" cy="822960"/>
          </a:xfrm>
          <a:prstGeom prst="roundRect">
            <a:avLst>
              <a:gd fmla="val 8889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2"/>
          <p:cNvSpPr/>
          <p:nvPr/>
        </p:nvSpPr>
        <p:spPr>
          <a:xfrm>
            <a:off x="594360" y="1554480"/>
            <a:ext cx="3749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for (int i = 0; i &lt; n; i++)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for (int j = 0; j &lt; n; j++)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cout &lt;&lt; arr[i] &lt;&lt; "," &lt;&lt; arr[j];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// n × n = n² pairs → O(n²)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2"/>
          <p:cNvSpPr/>
          <p:nvPr/>
        </p:nvSpPr>
        <p:spPr>
          <a:xfrm>
            <a:off x="4846320" y="11430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 2: Two Sum (LeetCode #1)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2"/>
          <p:cNvSpPr/>
          <p:nvPr/>
        </p:nvSpPr>
        <p:spPr>
          <a:xfrm>
            <a:off x="4846320" y="1463040"/>
            <a:ext cx="3840480" cy="822960"/>
          </a:xfrm>
          <a:prstGeom prst="roundRect">
            <a:avLst>
              <a:gd fmla="val 8889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2"/>
          <p:cNvSpPr/>
          <p:nvPr/>
        </p:nvSpPr>
        <p:spPr>
          <a:xfrm>
            <a:off x="4983480" y="1554480"/>
            <a:ext cx="3566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for (int i = 0; i &lt; n; i++)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for (int j = i+1; j &lt; n; j++)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if (arr[i]+arr[j] == target)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  return {i,j}; // O(n²)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2"/>
          <p:cNvSpPr/>
          <p:nvPr/>
        </p:nvSpPr>
        <p:spPr>
          <a:xfrm>
            <a:off x="457200" y="2560320"/>
            <a:ext cx="4114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Exact count: n(n-1)/2</a:t>
            </a:r>
            <a:b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Expand: n²/2 - n/2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½ constant factor → drop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n/2 smaller term → drop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O(n²)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2"/>
          <p:cNvSpPr/>
          <p:nvPr/>
        </p:nvSpPr>
        <p:spPr>
          <a:xfrm>
            <a:off x="4846320" y="2560320"/>
            <a:ext cx="384048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2"/>
          <p:cNvSpPr/>
          <p:nvPr/>
        </p:nvSpPr>
        <p:spPr>
          <a:xfrm>
            <a:off x="5029200" y="2651760"/>
            <a:ext cx="3474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n=5 → 10 checks</a:t>
            </a:r>
            <a:b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n=1000 → 4,99,500</a:t>
            </a:r>
            <a:br>
              <a:rPr b="0" i="0" lang="en-US" sz="12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n=10,000 → ~5 কোটি!</a:t>
            </a:r>
            <a:br>
              <a:rPr b="0" i="0" lang="en-US" sz="1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Rule: n বড় হলে n² এর কাছে n তুচ্ছ!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2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2"/>
          <p:cNvSpPr/>
          <p:nvPr/>
        </p:nvSpPr>
        <p:spPr>
          <a:xfrm>
            <a:off x="640080" y="4206240"/>
            <a:ext cx="7863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Interview Tip: Two Sum O(n²) → HashMap দিয়ে O(n) করা যায়! Trade-off: space O(n)।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3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O(n³) — Cubic Time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3 nested loops → n × n × n = n³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3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Example: Hill Triplets — arr[i] &lt; arr[j] &gt; arr[k]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3"/>
          <p:cNvSpPr/>
          <p:nvPr/>
        </p:nvSpPr>
        <p:spPr>
          <a:xfrm>
            <a:off x="457200" y="1508760"/>
            <a:ext cx="5029200" cy="1463040"/>
          </a:xfrm>
          <a:prstGeom prst="roundRect">
            <a:avLst>
              <a:gd fmla="val 5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3"/>
          <p:cNvSpPr/>
          <p:nvPr/>
        </p:nvSpPr>
        <p:spPr>
          <a:xfrm>
            <a:off x="594360" y="1600200"/>
            <a:ext cx="47548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// মাঝেরটা দুই পাশের চেয়ে বড় — পাহাড়ের মতো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int count = 0;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for (int i = 0; i &lt; n; i++)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for (int j = i+1; j &lt; n; j++)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for (int k = j+1; k &lt; n; k++)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  if (arr[i]&lt;arr[j] &amp;&amp; arr[j]&gt;arr[k])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    count++;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// 3 nested loops → O(n³)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3"/>
          <p:cNvSpPr/>
          <p:nvPr/>
        </p:nvSpPr>
        <p:spPr>
          <a:xfrm>
            <a:off x="5760720" y="1508760"/>
            <a:ext cx="292608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3"/>
          <p:cNvSpPr/>
          <p:nvPr/>
        </p:nvSpPr>
        <p:spPr>
          <a:xfrm>
            <a:off x="5943600" y="1600200"/>
            <a:ext cx="25603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Polynomial Family:</a:t>
            </a:r>
            <a:b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1 loop → O(n)</a:t>
            </a:r>
            <a:b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2 nested → O(n²)</a:t>
            </a:r>
            <a:b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3 nested → O(n³)</a:t>
            </a:r>
            <a:b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n=100 → 10 লাখ ops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n=1000 → 100 কোটি!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3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3n³ + 2n² + n + 5 → Big O তে শুধু সবচেয়ে বড় ঘাত: O(n³)। বাকি সব তুচ্ছ!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O(√n) — Square Root Time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Problem: n এর কতগুলো divisor আছে?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4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Key Insight: Divisors pair এ আসে! 12 = 1×12, 2×6, 3×4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4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ছোট divisor সবসময় √n এর মধ্যে! √12 ≈ 3.46 → ছোটগুলো: 1, 2,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4"/>
          <p:cNvSpPr/>
          <p:nvPr/>
        </p:nvSpPr>
        <p:spPr>
          <a:xfrm>
            <a:off x="457200" y="1783080"/>
            <a:ext cx="5029200" cy="1463040"/>
          </a:xfrm>
          <a:prstGeom prst="roundRect">
            <a:avLst>
              <a:gd fmla="val 5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4"/>
          <p:cNvSpPr/>
          <p:nvPr/>
        </p:nvSpPr>
        <p:spPr>
          <a:xfrm>
            <a:off x="594360" y="1874520"/>
            <a:ext cx="47548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int countDivisors(int n) 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int count = 0;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for (int i = 1; i*i &lt;= n; i++) { // √n পর্যন্ত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    if (n % i == 0) 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        count++;              // i divisor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        if (i != n/i) count++;// pair ও divisor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return count;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} // Loop √n বার → O(√n)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4"/>
          <p:cNvSpPr/>
          <p:nvPr/>
        </p:nvSpPr>
        <p:spPr>
          <a:xfrm>
            <a:off x="5760720" y="1783080"/>
            <a:ext cx="292608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4"/>
          <p:cNvSpPr/>
          <p:nvPr/>
        </p:nvSpPr>
        <p:spPr>
          <a:xfrm>
            <a:off x="5943600" y="1874520"/>
            <a:ext cx="25603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 = 10⁵ হলে:</a:t>
            </a:r>
            <a:b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Naive: </a:t>
            </a: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1,00,000 ops</a:t>
            </a:r>
            <a:b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Smart: </a:t>
            </a: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~316 ops</a:t>
            </a:r>
            <a:b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300× faster!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5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O(n × k) — যখন দুটো Variable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5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Problem: n জন student, k টা subject — প্রত্যেকের total marks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5"/>
          <p:cNvSpPr/>
          <p:nvPr/>
        </p:nvSpPr>
        <p:spPr>
          <a:xfrm>
            <a:off x="457200" y="1188725"/>
            <a:ext cx="5156100" cy="1273200"/>
          </a:xfrm>
          <a:prstGeom prst="roundRect">
            <a:avLst>
              <a:gd fmla="val 6667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5"/>
          <p:cNvSpPr/>
          <p:nvPr/>
        </p:nvSpPr>
        <p:spPr>
          <a:xfrm>
            <a:off x="594360" y="128016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int marks[n][k];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for (int i = 0; i &lt; n; i++) {       // n students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int total = 0;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for (int j = 0; j &lt; k; j++)     // k subjects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    total += marks[i][j];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cout &lt;&lt; total;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}  // n × k → O(n × k)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5"/>
          <p:cNvSpPr/>
          <p:nvPr/>
        </p:nvSpPr>
        <p:spPr>
          <a:xfrm>
            <a:off x="5760720" y="1188720"/>
            <a:ext cx="292608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5"/>
          <p:cNvSpPr/>
          <p:nvPr/>
        </p:nvSpPr>
        <p:spPr>
          <a:xfrm>
            <a:off x="5943600" y="1280160"/>
            <a:ext cx="2560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 আর k আলাদা!</a:t>
            </a:r>
            <a:b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n=1000, k=5 → 5,000</a:t>
            </a:r>
            <a:b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n=1000, k=50 → 50,000</a:t>
            </a:r>
            <a:b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O(n) লিখলে ভুল!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5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5"/>
          <p:cNvSpPr/>
          <p:nvPr/>
        </p:nvSpPr>
        <p:spPr>
          <a:xfrm>
            <a:off x="640080" y="251460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⚠ Interview Mistake: দুটো আলাদা input size কে n ধরে O(n²) বলে ফেলো — সাবধান!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6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6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O(log n) — Logarithmic Time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6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প্রতি step এ problem অর্ধেক → Binary Search!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6"/>
          <p:cNvSpPr/>
          <p:nvPr/>
        </p:nvSpPr>
        <p:spPr>
          <a:xfrm>
            <a:off x="457200" y="1143000"/>
            <a:ext cx="4572000" cy="1645920"/>
          </a:xfrm>
          <a:prstGeom prst="roundRect">
            <a:avLst>
              <a:gd fmla="val 4444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6"/>
          <p:cNvSpPr/>
          <p:nvPr/>
        </p:nvSpPr>
        <p:spPr>
          <a:xfrm>
            <a:off x="594360" y="1234440"/>
            <a:ext cx="42976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int binarySearch(vector&lt;int&gt;&amp; arr, int t) 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int l = 0, r = arr.size()-1;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while (l &lt;= r) 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    int m = (l+r)/2;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    if (arr[m] == t) return m;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    else if (arr[m] &lt; t) l = m+1;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    else r = m-1;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return -1;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} // প্রতিবার অর্ধেক বাদ → O(log 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6"/>
          <p:cNvSpPr/>
          <p:nvPr/>
        </p:nvSpPr>
        <p:spPr>
          <a:xfrm>
            <a:off x="5303520" y="1143000"/>
            <a:ext cx="33832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log n মানে কী?</a:t>
            </a:r>
            <a:b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 কে কতবার 2 দিয়ে ভাগ করলে 1 হয়</a:t>
            </a:r>
            <a:b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16→8→4→2→1 = 4 বার → log₂16 = 4</a:t>
            </a:r>
            <a:b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Big O তে base matter করে না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log₂ আর log₁₀ — constant factor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(log₂n = 3.32 × log₁₀n)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9" name="Google Shape;219;p16"/>
          <p:cNvGraphicFramePr/>
          <p:nvPr/>
        </p:nvGraphicFramePr>
        <p:xfrm>
          <a:off x="457200" y="3017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{7DC78D54-6915-4378-A96A-827B0C334992}</a:tableStyleId>
              </a:tblPr>
              <a:tblGrid>
                <a:gridCol w="2286000"/>
                <a:gridCol w="2971800"/>
                <a:gridCol w="2971800"/>
              </a:tblGrid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O(n) Linear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O(log n) Binary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 বার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2C5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~10 বার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 লাখ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 লাখ বার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2C5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~20 বার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 কোটি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 কোটি বার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2C5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~30 বার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0" name="Google Shape;220;p16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100 কোটি element এও মাত্র ~30 বার! Sorted data + Binary Search = 🔥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7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O(n log n) — Sorting Complexity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7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Most efficient sorting algorithms: Merge Sort, Quick Sort, Heap Sort → O(n log 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7"/>
          <p:cNvSpPr/>
          <p:nvPr/>
        </p:nvSpPr>
        <p:spPr>
          <a:xfrm>
            <a:off x="457200" y="1188720"/>
            <a:ext cx="5029200" cy="640080"/>
          </a:xfrm>
          <a:prstGeom prst="roundRect">
            <a:avLst>
              <a:gd fmla="val 11429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7"/>
          <p:cNvSpPr/>
          <p:nvPr/>
        </p:nvSpPr>
        <p:spPr>
          <a:xfrm>
            <a:off x="594360" y="128016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sort(arr.begin(), arr.end());  // C++ STL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// O(n log n) — internally IntroSort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// n elements, each log n বার process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7"/>
          <p:cNvSpPr/>
          <p:nvPr/>
        </p:nvSpPr>
        <p:spPr>
          <a:xfrm>
            <a:off x="5760720" y="1188720"/>
            <a:ext cx="2926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O(n) &lt; O(n log n) &lt; O(n²)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n=10 লাখ: n=10⁶, n log n ≈ 2×10⁷, n²=10¹²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Sort + Binary Search = powerful combo!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8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8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O(2ⁿ) — Exponential Time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Interview Classic: Fibonacci Naive Recursive → DP Optimization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457200" y="1143000"/>
            <a:ext cx="4114800" cy="822960"/>
          </a:xfrm>
          <a:prstGeom prst="roundRect">
            <a:avLst>
              <a:gd fmla="val 8889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8"/>
          <p:cNvSpPr/>
          <p:nvPr/>
        </p:nvSpPr>
        <p:spPr>
          <a:xfrm>
            <a:off x="594360" y="123444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int fib(int n) 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if (n &lt;= 1) return n;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return fib(n-1) + fib(n-2);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}  // দেখতে সুন্দর, ভেতরে ভয়ংকর!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8"/>
          <p:cNvSpPr/>
          <p:nvPr/>
        </p:nvSpPr>
        <p:spPr>
          <a:xfrm>
            <a:off x="4846320" y="114300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Recursive Tree:</a:t>
            </a:r>
            <a:b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প্রতিটা call → 2 টা call</a:t>
            </a:r>
            <a:b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fib(3) → 2 বার, fib(2) → 3 বার!</a:t>
            </a:r>
            <a:b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Overlapping subproblems!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8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fib(10): 177   fib(30): 26 লাখ+   </a:t>
            </a:r>
            <a:r>
              <a:rPr b="1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fib(50): ~1250 কোটি!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8"/>
          <p:cNvSpPr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22C55E"/>
                </a:solidFill>
                <a:latin typeface="Trebuchet MS"/>
                <a:ea typeface="Trebuchet MS"/>
                <a:cs typeface="Trebuchet MS"/>
                <a:sym typeface="Trebuchet MS"/>
              </a:rPr>
              <a:t>DP দিয়ে Optimization: O(2ⁿ) → O(n)!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8"/>
          <p:cNvSpPr/>
          <p:nvPr/>
        </p:nvSpPr>
        <p:spPr>
          <a:xfrm>
            <a:off x="457200" y="2926080"/>
            <a:ext cx="5029200" cy="1280160"/>
          </a:xfrm>
          <a:prstGeom prst="roundRect">
            <a:avLst>
              <a:gd fmla="val 5714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8"/>
          <p:cNvSpPr/>
          <p:nvPr/>
        </p:nvSpPr>
        <p:spPr>
          <a:xfrm>
            <a:off x="594360" y="3017520"/>
            <a:ext cx="47548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int dp[1000]; memset(dp, -1, sizeof(dp));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int fib(int n) 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if (n&lt;=1) return n;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if (dp[n]!=-1) return dp[n]; // আগেই solve!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return dp[n] = fib(n-1) + fib(n-2);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// save করো, পরেরবার saved answer দাও!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8"/>
          <p:cNvSpPr/>
          <p:nvPr/>
        </p:nvSpPr>
        <p:spPr>
          <a:xfrm>
            <a:off x="5760720" y="2926080"/>
            <a:ext cx="2926080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8"/>
          <p:cNvSpPr/>
          <p:nvPr/>
        </p:nvSpPr>
        <p:spPr>
          <a:xfrm>
            <a:off x="5943600" y="3017520"/>
            <a:ext cx="2560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O(2ⁿ) → O(n)</a:t>
            </a:r>
            <a:br>
              <a:rPr b="1" i="0" lang="en-US" sz="1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i="0" lang="en-US" sz="1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fib(50): 1250 কোটি → </a:t>
            </a:r>
            <a:r>
              <a:rPr b="1" i="0" lang="en-US" sz="18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50!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8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এটাই DP এর magic — overlapping subproblem চিনো, save করো, reuse করো!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9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O(n!) — Factorial Time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n টা element এর সব permutation বের করো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{1,2,3} → 6 ways  |  {1,2,3,4} → 24 ways  |  {1,...,10} → 36,28,800!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457200" y="1463040"/>
            <a:ext cx="5029200" cy="914400"/>
          </a:xfrm>
          <a:prstGeom prst="roundRect">
            <a:avLst>
              <a:gd fmla="val 8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9"/>
          <p:cNvSpPr/>
          <p:nvPr/>
        </p:nvSpPr>
        <p:spPr>
          <a:xfrm>
            <a:off x="594360" y="1554480"/>
            <a:ext cx="4754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sort(nums.begin(), nums.end());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do 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for(int x : nums) cout &lt;&lt; x &lt;&lt; " ";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} while(next_permutation(nums.begin(), nums.end()));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// n! permutations → O(n!)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1" name="Google Shape;261;p19"/>
          <p:cNvGraphicFramePr/>
          <p:nvPr/>
        </p:nvGraphicFramePr>
        <p:xfrm>
          <a:off x="457200" y="2606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{7DC78D54-6915-4378-A96A-827B0C334992}</a:tableStyleId>
              </a:tblPr>
              <a:tblGrid>
                <a:gridCol w="1828800"/>
                <a:gridCol w="3200400"/>
                <a:gridCol w="3200400"/>
              </a:tblGrid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n!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Status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2C5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⚡ instant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36,28,800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2C5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⚡ ok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~130 বিলিয়ন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 hours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~2.4 × 10¹⁸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 impossible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2" name="Google Shape;262;p19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সবচেয়ে ধীর complexity! n &gt; 20 = practically impossible।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Complexity Ranking — Best to Worst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0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5EEAD4"/>
                </a:solidFill>
                <a:latin typeface="Trebuchet MS"/>
                <a:ea typeface="Trebuchet MS"/>
                <a:cs typeface="Trebuchet MS"/>
                <a:sym typeface="Trebuchet MS"/>
              </a:rPr>
              <a:t>O(1) &lt; O(log n) &lt; O(√n) &lt; O(n) &lt; O(n log n) &lt; O(n²) &lt; O(n³) &lt; O(2ⁿ) &lt; O(n!)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2" name="Google Shape;272;p20"/>
          <p:cNvGraphicFramePr/>
          <p:nvPr/>
        </p:nvGraphicFramePr>
        <p:xfrm>
          <a:off x="45720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{7DC78D54-6915-4378-A96A-827B0C334992}</a:tableStyleId>
              </a:tblPr>
              <a:tblGrid>
                <a:gridCol w="2286000"/>
                <a:gridCol w="3200400"/>
                <a:gridCol w="2743200"/>
              </a:tblGrid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Complexity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n=10⁶ Operations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Rating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D948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O(1)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2C5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⚡ Instant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D948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O(log n)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~20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2C5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⚡ Instant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D948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O(√n)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~1,000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2C5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 Very Fast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D948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O(n)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10,00,000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2C5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 Good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D948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O(n log n)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~2,00,00,000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2C5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 Okay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D948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O(n²)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10¹²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 Very Slow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D948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O(2ⁿ)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Atoms in universe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 Impossible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D948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O(n!)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 Forget it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n দেখেই বুঝে যাও — কোন Complexity চলবে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C++ ~10⁸ ops/sec। Problem constraint → approach select!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1" name="Google Shape;281;p21"/>
          <p:cNvGraphicFramePr/>
          <p:nvPr/>
        </p:nvGraphicFramePr>
        <p:xfrm>
          <a:off x="457200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{7DC78D54-6915-4378-A96A-827B0C334992}</a:tableStyleId>
              </a:tblPr>
              <a:tblGrid>
                <a:gridCol w="2103125"/>
                <a:gridCol w="2286000"/>
                <a:gridCol w="3840475"/>
              </a:tblGrid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 Range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Max Complexity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Approach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34155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 ≤ 10-12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D948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O(n!)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Brute force permutation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34155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 ≤ 20-25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D948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O(2ⁿ)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Bitmask DP, backtracking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34155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 ≤ 500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D948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O(n³)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Floyd-Warshall, DP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34155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 ≤ 10,000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D948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O(n²)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Nested loops, simple DP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34155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 ≤ 10⁶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D948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O(n log n)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Sorting + binary search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34155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 ≤ 10⁸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D948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O(n)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Single pass, two pointer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34155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 &gt; 10⁸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D948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O(log n)/O(1)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Math formula, binary search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2" name="Google Shape;282;p21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1"/>
          <p:cNvSpPr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💡 Interview: constraint শুনেই জিজ্ঞেস করো — "What's the expected input size?"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Code Patterns → Complexity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1" name="Google Shape;291;p22"/>
          <p:cNvGraphicFramePr/>
          <p:nvPr/>
        </p:nvGraphicFramePr>
        <p:xfrm>
          <a:off x="457200" y="822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{7DC78D54-6915-4378-A96A-827B0C334992}</a:tableStyleId>
              </a:tblPr>
              <a:tblGrid>
                <a:gridCol w="5486400"/>
                <a:gridCol w="2743200"/>
              </a:tblGrid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Code Pattern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Complexity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Single for loop (0 to n)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200"/>
                        <a:buFont typeface="Trebuchet M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D948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O(n)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Nested 2 loops (both n)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200"/>
                        <a:buFont typeface="Trebuchet M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D948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O(n²)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Triple nested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200"/>
                        <a:buFont typeface="Trebuchet M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D948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O(n³)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Loop: i *= 2 or i /= 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200"/>
                        <a:buFont typeface="Trebuchet M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D948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O(log n)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Outer n, inner log 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200"/>
                        <a:buFont typeface="Trebuchet M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D948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O(n log n)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Recursive: 2 calls per level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200"/>
                        <a:buFont typeface="Trebuchet M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D948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O(2ⁿ)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Recursive: 1 call, n/2 size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200"/>
                        <a:buFont typeface="Trebuchet M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D948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O(log n)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Fixed loop × n loop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200"/>
                        <a:buFont typeface="Trebuchet M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D948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O(n) — fixed = constant!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3"/>
          <p:cNvSpPr/>
          <p:nvPr/>
        </p:nvSpPr>
        <p:spPr>
          <a:xfrm>
            <a:off x="3657600" y="731520"/>
            <a:ext cx="1828800" cy="1828800"/>
          </a:xfrm>
          <a:prstGeom prst="ellipse">
            <a:avLst/>
          </a:prstGeom>
          <a:solidFill>
            <a:srgbClr val="0D9488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3"/>
          <p:cNvSpPr/>
          <p:nvPr/>
        </p:nvSpPr>
        <p:spPr>
          <a:xfrm>
            <a:off x="3657600" y="731520"/>
            <a:ext cx="1828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Part 2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3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Space Complexity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3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তোমার Program কতটুকু Memory খাচ্ছে?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4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Auxiliary Space vs Total Space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4"/>
          <p:cNvSpPr/>
          <p:nvPr/>
        </p:nvSpPr>
        <p:spPr>
          <a:xfrm>
            <a:off x="457200" y="914400"/>
            <a:ext cx="384048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4"/>
          <p:cNvSpPr/>
          <p:nvPr/>
        </p:nvSpPr>
        <p:spPr>
          <a:xfrm>
            <a:off x="457200" y="914400"/>
            <a:ext cx="54864" cy="2011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4"/>
          <p:cNvSpPr/>
          <p:nvPr/>
        </p:nvSpPr>
        <p:spPr>
          <a:xfrm>
            <a:off x="685800" y="96012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Auxiliary Space (Extra)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4"/>
          <p:cNvSpPr/>
          <p:nvPr/>
        </p:nvSpPr>
        <p:spPr>
          <a:xfrm>
            <a:off x="685800" y="1371600"/>
            <a:ext cx="3474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Input বাদে তুমি নতুন কতটুকু memory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নিচ্ছো। Interview তে এটাই জিজ্ঞেস করে!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Examples: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 int x → O(1)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 new array[n] → O(n)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 n×n grid → O(n²)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4"/>
          <p:cNvSpPr/>
          <p:nvPr/>
        </p:nvSpPr>
        <p:spPr>
          <a:xfrm>
            <a:off x="4754880" y="914400"/>
            <a:ext cx="393192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4"/>
          <p:cNvSpPr/>
          <p:nvPr/>
        </p:nvSpPr>
        <p:spPr>
          <a:xfrm>
            <a:off x="4754880" y="914400"/>
            <a:ext cx="54864" cy="2011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4"/>
          <p:cNvSpPr/>
          <p:nvPr/>
        </p:nvSpPr>
        <p:spPr>
          <a:xfrm>
            <a:off x="4983480" y="96012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Total Space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4"/>
          <p:cNvSpPr/>
          <p:nvPr/>
        </p:nvSpPr>
        <p:spPr>
          <a:xfrm>
            <a:off x="4983480" y="137160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Input + Auxiliary — সব মিলিয়ে।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Specifically জিজ্ঞেস করলে বলো।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4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Palindrome Check: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4"/>
          <p:cNvSpPr/>
          <p:nvPr/>
        </p:nvSpPr>
        <p:spPr>
          <a:xfrm>
            <a:off x="457200" y="3429000"/>
            <a:ext cx="4114800" cy="640080"/>
          </a:xfrm>
          <a:prstGeom prst="roundRect">
            <a:avLst>
              <a:gd fmla="val 11429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4"/>
          <p:cNvSpPr/>
          <p:nvPr/>
        </p:nvSpPr>
        <p:spPr>
          <a:xfrm>
            <a:off x="594360" y="352044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// O(n) space: reverse string বানালে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string rev(s.rbegin(), s.rend());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return s == rev;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4"/>
          <p:cNvSpPr/>
          <p:nvPr/>
        </p:nvSpPr>
        <p:spPr>
          <a:xfrm>
            <a:off x="4754880" y="3429000"/>
            <a:ext cx="3931920" cy="640080"/>
          </a:xfrm>
          <a:prstGeom prst="roundRect">
            <a:avLst>
              <a:gd fmla="val 11429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4"/>
          <p:cNvSpPr/>
          <p:nvPr/>
        </p:nvSpPr>
        <p:spPr>
          <a:xfrm>
            <a:off x="4892040" y="35204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// O(1) space: two pointer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while (l &lt; r)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if(s[l++]!=s[r--]) return false;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5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Space Complexity — Examples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5"/>
          <p:cNvSpPr/>
          <p:nvPr/>
        </p:nvSpPr>
        <p:spPr>
          <a:xfrm>
            <a:off x="457200" y="77724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O(1) Space: </a:t>
            </a: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Variables only — swap(a,b), findMax(arr)</a:t>
            </a:r>
            <a:b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O(n) Space: </a:t>
            </a: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HashMap for duplicate check, freq array</a:t>
            </a:r>
            <a:b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O(log n) Space: </a:t>
            </a: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Binary conversion — n=10⁵ → মাত্র ~17 chars</a:t>
            </a:r>
            <a:b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O(n²) Space: </a:t>
            </a: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2D visited grid, DP table (LCS, Edit Distance)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5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Duplicate Check — O(n) space with HashMap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5"/>
          <p:cNvSpPr/>
          <p:nvPr/>
        </p:nvSpPr>
        <p:spPr>
          <a:xfrm>
            <a:off x="457200" y="2606052"/>
            <a:ext cx="5039100" cy="1371600"/>
          </a:xfrm>
          <a:prstGeom prst="roundRect">
            <a:avLst>
              <a:gd fmla="val 6154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5"/>
          <p:cNvSpPr/>
          <p:nvPr/>
        </p:nvSpPr>
        <p:spPr>
          <a:xfrm>
            <a:off x="594360" y="2697480"/>
            <a:ext cx="4754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bool hasDuplicate(vector&lt;int&gt;&amp; arr) 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unordered_map&lt;int,int&gt; freq;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for (int x : arr) 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    freq[x]++;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    if (freq[x]==2) return true;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return false;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} // freq map → worst n entries → O(n) space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5"/>
          <p:cNvSpPr/>
          <p:nvPr/>
        </p:nvSpPr>
        <p:spPr>
          <a:xfrm>
            <a:off x="5760720" y="22860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Island Count — O(n²) space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5"/>
          <p:cNvSpPr/>
          <p:nvPr/>
        </p:nvSpPr>
        <p:spPr>
          <a:xfrm>
            <a:off x="5760720" y="2606040"/>
            <a:ext cx="2926080" cy="1188720"/>
          </a:xfrm>
          <a:prstGeom prst="roundRect">
            <a:avLst>
              <a:gd fmla="val 6154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5"/>
          <p:cNvSpPr/>
          <p:nvPr/>
        </p:nvSpPr>
        <p:spPr>
          <a:xfrm>
            <a:off x="5897880" y="2697480"/>
            <a:ext cx="2651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// n×n grid + n×n visited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vector&lt;vector&lt;bool&gt;&gt;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visited(n, vec(m,false));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// visited = n×m extra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// → O(n²) auxiliary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6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6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Recursion এর Hidden Space Cost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6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কোনো array বানাওনি — তবুও O(n) space! Stack frames!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6"/>
          <p:cNvSpPr/>
          <p:nvPr/>
        </p:nvSpPr>
        <p:spPr>
          <a:xfrm>
            <a:off x="457200" y="1188726"/>
            <a:ext cx="4237500" cy="795600"/>
          </a:xfrm>
          <a:prstGeom prst="roundRect">
            <a:avLst>
              <a:gd fmla="val 11429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6"/>
          <p:cNvSpPr/>
          <p:nvPr/>
        </p:nvSpPr>
        <p:spPr>
          <a:xfrm>
            <a:off x="594360" y="128016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int factorial(int n) 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if (n&lt;=1) return 1;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return n * factorial(n-1);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6"/>
          <p:cNvSpPr/>
          <p:nvPr/>
        </p:nvSpPr>
        <p:spPr>
          <a:xfrm>
            <a:off x="4846320" y="1097280"/>
            <a:ext cx="38404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factorial(5) → Stack:</a:t>
            </a:r>
            <a:b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frame 5: n=1 → return 1</a:t>
            </a:r>
            <a:b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frame 4: n=2 → waiting...</a:t>
            </a:r>
            <a:b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frame 3: n=3 → waiting...</a:t>
            </a:r>
            <a:b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frame 2: n=4 → waiting...</a:t>
            </a:r>
            <a:b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frame 1: n=5 → waiting...</a:t>
            </a:r>
            <a:b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5 frames একসাথে! → O(n) space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6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Rule: Recursive space = maximum depth, total calls না!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9" name="Google Shape;349;p26"/>
          <p:cNvGraphicFramePr/>
          <p:nvPr/>
        </p:nvGraphicFramePr>
        <p:xfrm>
          <a:off x="457200" y="388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{7DC78D54-6915-4378-A96A-827B0C334992}</a:tableStyleId>
              </a:tblPr>
              <a:tblGrid>
                <a:gridCol w="2286000"/>
                <a:gridCol w="2286000"/>
                <a:gridCol w="3657600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Trebuchet M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Function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Trebuchet M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Time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Trebuchet M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Depth → Space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Trebuchet M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334155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factorial(n)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O(n)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94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 → O(n)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Trebuchet M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334155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fib(n) naive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O(2ⁿ)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94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 → O(n) ← not 2ⁿ!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Trebuchet M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334155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binary search rec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O(log n)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94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 n → O(log n)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Trebuchet M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334155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merge sort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O(n log n)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94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 n → O(log n) + O(n)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7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Time-Space Trade-off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7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সময় বাঁচাতে memory খরচ, memory বাঁচাতে সময় বেশি — balance!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7"/>
          <p:cNvSpPr/>
          <p:nvPr/>
        </p:nvSpPr>
        <p:spPr>
          <a:xfrm>
            <a:off x="457200" y="1188720"/>
            <a:ext cx="384048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7"/>
          <p:cNvSpPr/>
          <p:nvPr/>
        </p:nvSpPr>
        <p:spPr>
          <a:xfrm>
            <a:off x="457200" y="1188720"/>
            <a:ext cx="3840480" cy="3657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7"/>
          <p:cNvSpPr/>
          <p:nvPr/>
        </p:nvSpPr>
        <p:spPr>
          <a:xfrm>
            <a:off x="457200" y="118872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কম Memory, বেশি সময়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7"/>
          <p:cNvSpPr/>
          <p:nvPr/>
        </p:nvSpPr>
        <p:spPr>
          <a:xfrm>
            <a:off x="640080" y="1691640"/>
            <a:ext cx="3474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Duplicate: nested loop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Time: O(n²)  |  Space: O(1)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n=10 লাখ → minutes!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7"/>
          <p:cNvSpPr/>
          <p:nvPr/>
        </p:nvSpPr>
        <p:spPr>
          <a:xfrm>
            <a:off x="4754880" y="1188720"/>
            <a:ext cx="393192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7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7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বেশি Memory, কম সময়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7"/>
          <p:cNvSpPr/>
          <p:nvPr/>
        </p:nvSpPr>
        <p:spPr>
          <a:xfrm>
            <a:off x="4937760" y="1691640"/>
            <a:ext cx="35661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Duplicate: HashMap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Time: O(n)  |  Space: O(n)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n=10 লাখ → instant!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8"/>
          <p:cNvSpPr/>
          <p:nvPr/>
        </p:nvSpPr>
        <p:spPr>
          <a:xfrm>
            <a:off x="3657600" y="731520"/>
            <a:ext cx="1828800" cy="1828800"/>
          </a:xfrm>
          <a:prstGeom prst="ellipse">
            <a:avLst/>
          </a:prstGeom>
          <a:solidFill>
            <a:srgbClr val="0D9488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8"/>
          <p:cNvSpPr/>
          <p:nvPr/>
        </p:nvSpPr>
        <p:spPr>
          <a:xfrm>
            <a:off x="3657600" y="731520"/>
            <a:ext cx="1828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Part 3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8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Advanced Topics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8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Big O/Ω/Θ, Amortized Complexity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9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9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Big O  vs  Big Ω  vs  Big Θ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9"/>
          <p:cNvSpPr/>
          <p:nvPr/>
        </p:nvSpPr>
        <p:spPr>
          <a:xfrm>
            <a:off x="457200" y="914400"/>
            <a:ext cx="265176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9"/>
          <p:cNvSpPr/>
          <p:nvPr/>
        </p:nvSpPr>
        <p:spPr>
          <a:xfrm>
            <a:off x="457200" y="914400"/>
            <a:ext cx="2651760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9"/>
          <p:cNvSpPr/>
          <p:nvPr/>
        </p:nvSpPr>
        <p:spPr>
          <a:xfrm>
            <a:off x="457200" y="91440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Big 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9"/>
          <p:cNvSpPr/>
          <p:nvPr/>
        </p:nvSpPr>
        <p:spPr>
          <a:xfrm>
            <a:off x="457200" y="146304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Upper Bound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9"/>
          <p:cNvSpPr/>
          <p:nvPr/>
        </p:nvSpPr>
        <p:spPr>
          <a:xfrm>
            <a:off x="548640" y="182880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Worst Case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"এর বেশি লাগবে না"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9"/>
          <p:cNvSpPr/>
          <p:nvPr/>
        </p:nvSpPr>
        <p:spPr>
          <a:xfrm>
            <a:off x="548640" y="265176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Linear Search: O(n)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9"/>
          <p:cNvSpPr/>
          <p:nvPr/>
        </p:nvSpPr>
        <p:spPr>
          <a:xfrm>
            <a:off x="3291840" y="914400"/>
            <a:ext cx="265176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9"/>
          <p:cNvSpPr/>
          <p:nvPr/>
        </p:nvSpPr>
        <p:spPr>
          <a:xfrm>
            <a:off x="3291840" y="914400"/>
            <a:ext cx="265176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9"/>
          <p:cNvSpPr/>
          <p:nvPr/>
        </p:nvSpPr>
        <p:spPr>
          <a:xfrm>
            <a:off x="3291840" y="91440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Big Ω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9"/>
          <p:cNvSpPr/>
          <p:nvPr/>
        </p:nvSpPr>
        <p:spPr>
          <a:xfrm>
            <a:off x="3291840" y="146304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Lower Bound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9"/>
          <p:cNvSpPr/>
          <p:nvPr/>
        </p:nvSpPr>
        <p:spPr>
          <a:xfrm>
            <a:off x="3383280" y="182880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Best Case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"এর কম লাগবে না"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9"/>
          <p:cNvSpPr/>
          <p:nvPr/>
        </p:nvSpPr>
        <p:spPr>
          <a:xfrm>
            <a:off x="3383280" y="265176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Linear Search: Ω(1)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9"/>
          <p:cNvSpPr/>
          <p:nvPr/>
        </p:nvSpPr>
        <p:spPr>
          <a:xfrm>
            <a:off x="6126480" y="914400"/>
            <a:ext cx="265176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9"/>
          <p:cNvSpPr/>
          <p:nvPr/>
        </p:nvSpPr>
        <p:spPr>
          <a:xfrm>
            <a:off x="6126480" y="914400"/>
            <a:ext cx="265176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9"/>
          <p:cNvSpPr/>
          <p:nvPr/>
        </p:nvSpPr>
        <p:spPr>
          <a:xfrm>
            <a:off x="6126480" y="91440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Big 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9"/>
          <p:cNvSpPr/>
          <p:nvPr/>
        </p:nvSpPr>
        <p:spPr>
          <a:xfrm>
            <a:off x="6126480" y="146304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Tight Bound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Both = Same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"সবসময় এতটুকুই"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9"/>
          <p:cNvSpPr/>
          <p:nvPr/>
        </p:nvSpPr>
        <p:spPr>
          <a:xfrm>
            <a:off x="6217920" y="265176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Array traverse: Θ(n)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9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9"/>
          <p:cNvSpPr/>
          <p:nvPr/>
        </p:nvSpPr>
        <p:spPr>
          <a:xfrm>
            <a:off x="640080" y="361188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Insertion Sort: Best Ω(n) — already sorted | Worst O(n²) — reverse sorted | Θ নেই (best ≠ worst)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9"/>
          <p:cNvSpPr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Interview তে 90% সময় Worst Case (Big O) জিজ্ঞেস করে!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Amortized Complexity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0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vector::push_back — O(1) amortized কীভাবে?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0"/>
          <p:cNvSpPr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বেশিরভাগ push_back: O(1) — শুধু element বসাও</a:t>
            </a:r>
            <a:br>
              <a:rPr b="0" i="0" lang="en-US" sz="12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Capacity full হলে: RESIZE! → দ্বিগুণ array, সব copy → O(n)</a:t>
            </a:r>
            <a:br>
              <a:rPr b="0" i="0" lang="en-US" sz="1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কিন্তু resize বারবার হয় না — gap দ্বিগুণ বাড়ে → total n push = O(n) cost → per push O(1)!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4" name="Google Shape;414;p30"/>
          <p:cNvGraphicFramePr/>
          <p:nvPr/>
        </p:nvGraphicFramePr>
        <p:xfrm>
          <a:off x="4572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{7DC78D54-6915-4378-A96A-827B0C334992}</a:tableStyleId>
              </a:tblPr>
              <a:tblGrid>
                <a:gridCol w="1828800"/>
                <a:gridCol w="3200400"/>
                <a:gridCol w="3200400"/>
              </a:tblGrid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Average O(1)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Amortized O(1)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F172A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Guarantee?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না — luck dependent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2C5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হ্যাঁ — total always O(n)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F172A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Unlucky?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সব expensive হতে পারে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2C5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কয়েকটা expensive, বাকি cheap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Trebuchet M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F172A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Example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Hash Table lookup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vector::push_back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31"/>
          <p:cNvSpPr/>
          <p:nvPr/>
        </p:nvSpPr>
        <p:spPr>
          <a:xfrm>
            <a:off x="3657600" y="731520"/>
            <a:ext cx="1828800" cy="1828800"/>
          </a:xfrm>
          <a:prstGeom prst="ellipse">
            <a:avLst/>
          </a:prstGeom>
          <a:solidFill>
            <a:srgbClr val="0D9488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1"/>
          <p:cNvSpPr/>
          <p:nvPr/>
        </p:nvSpPr>
        <p:spPr>
          <a:xfrm>
            <a:off x="3657600" y="731520"/>
            <a:ext cx="1828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Part 4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1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NP Complete &amp; NP Hard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1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কিছু Problem কেন "অসম্ভব"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P, NP, NP-Complete, NP-Hard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2"/>
          <p:cNvSpPr/>
          <p:nvPr/>
        </p:nvSpPr>
        <p:spPr>
          <a:xfrm>
            <a:off x="365760" y="914400"/>
            <a:ext cx="2011680" cy="25603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32"/>
          <p:cNvSpPr/>
          <p:nvPr/>
        </p:nvSpPr>
        <p:spPr>
          <a:xfrm>
            <a:off x="365760" y="914400"/>
            <a:ext cx="201168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32"/>
          <p:cNvSpPr/>
          <p:nvPr/>
        </p:nvSpPr>
        <p:spPr>
          <a:xfrm>
            <a:off x="365760" y="9144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2"/>
          <p:cNvSpPr/>
          <p:nvPr/>
        </p:nvSpPr>
        <p:spPr>
          <a:xfrm>
            <a:off x="457200" y="146304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Solve সহজ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Polynomial Time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2"/>
          <p:cNvSpPr/>
          <p:nvPr/>
        </p:nvSpPr>
        <p:spPr>
          <a:xfrm>
            <a:off x="457200" y="246888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Sorting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Dijkstra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Binary Search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2"/>
          <p:cNvSpPr/>
          <p:nvPr/>
        </p:nvSpPr>
        <p:spPr>
          <a:xfrm>
            <a:off x="2514600" y="914400"/>
            <a:ext cx="2011680" cy="25603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2"/>
          <p:cNvSpPr/>
          <p:nvPr/>
        </p:nvSpPr>
        <p:spPr>
          <a:xfrm>
            <a:off x="2514600" y="914400"/>
            <a:ext cx="2011680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2"/>
          <p:cNvSpPr/>
          <p:nvPr/>
        </p:nvSpPr>
        <p:spPr>
          <a:xfrm>
            <a:off x="2514600" y="9144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2"/>
          <p:cNvSpPr/>
          <p:nvPr/>
        </p:nvSpPr>
        <p:spPr>
          <a:xfrm>
            <a:off x="2606040" y="146304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Verify সহজ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Polynomial Time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2"/>
          <p:cNvSpPr/>
          <p:nvPr/>
        </p:nvSpPr>
        <p:spPr>
          <a:xfrm>
            <a:off x="2606040" y="246888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Sudoku verify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Knapsack verify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2"/>
          <p:cNvSpPr/>
          <p:nvPr/>
        </p:nvSpPr>
        <p:spPr>
          <a:xfrm>
            <a:off x="4663440" y="914400"/>
            <a:ext cx="2011680" cy="25603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2"/>
          <p:cNvSpPr/>
          <p:nvPr/>
        </p:nvSpPr>
        <p:spPr>
          <a:xfrm>
            <a:off x="4663440" y="914400"/>
            <a:ext cx="2011680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32"/>
          <p:cNvSpPr/>
          <p:nvPr/>
        </p:nvSpPr>
        <p:spPr>
          <a:xfrm>
            <a:off x="4663440" y="9144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NP-C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2"/>
          <p:cNvSpPr/>
          <p:nvPr/>
        </p:nvSpPr>
        <p:spPr>
          <a:xfrm>
            <a:off x="4754880" y="146304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NP এর কঠিনতম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Solve = exponential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2"/>
          <p:cNvSpPr/>
          <p:nvPr/>
        </p:nvSpPr>
        <p:spPr>
          <a:xfrm>
            <a:off x="4754880" y="246888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TSP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Knapsack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Graph Coloring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2"/>
          <p:cNvSpPr/>
          <p:nvPr/>
        </p:nvSpPr>
        <p:spPr>
          <a:xfrm>
            <a:off x="6812280" y="914400"/>
            <a:ext cx="2011680" cy="25603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32"/>
          <p:cNvSpPr/>
          <p:nvPr/>
        </p:nvSpPr>
        <p:spPr>
          <a:xfrm>
            <a:off x="6812280" y="914400"/>
            <a:ext cx="2011680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2"/>
          <p:cNvSpPr/>
          <p:nvPr/>
        </p:nvSpPr>
        <p:spPr>
          <a:xfrm>
            <a:off x="6812280" y="9144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NP-H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2"/>
          <p:cNvSpPr/>
          <p:nvPr/>
        </p:nvSpPr>
        <p:spPr>
          <a:xfrm>
            <a:off x="6903720" y="146304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সবচেয়ে কঠিন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Verify ও কঠিন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2"/>
          <p:cNvSpPr/>
          <p:nvPr/>
        </p:nvSpPr>
        <p:spPr>
          <a:xfrm>
            <a:off x="6903720" y="246888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Halting Problem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Chess Best Move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2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2"/>
          <p:cNvSpPr/>
          <p:nvPr/>
        </p:nvSpPr>
        <p:spPr>
          <a:xfrm>
            <a:off x="640080" y="379476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P = NP?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2"/>
          <p:cNvSpPr/>
          <p:nvPr/>
        </p:nvSpPr>
        <p:spPr>
          <a:xfrm>
            <a:off x="2560320" y="3794760"/>
            <a:ext cx="5943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50+ বছর ধরে unsolved! Solve করলে $1M পুরস্কার।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P=NP হলে → encryption crack, drug discovery রাতারাতি, optimization সব সহজ!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33"/>
          <p:cNvSpPr/>
          <p:nvPr/>
        </p:nvSpPr>
        <p:spPr>
          <a:xfrm>
            <a:off x="3657600" y="731520"/>
            <a:ext cx="1828800" cy="1828800"/>
          </a:xfrm>
          <a:prstGeom prst="ellipse">
            <a:avLst/>
          </a:prstGeom>
          <a:solidFill>
            <a:srgbClr val="0D9488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33"/>
          <p:cNvSpPr/>
          <p:nvPr/>
        </p:nvSpPr>
        <p:spPr>
          <a:xfrm>
            <a:off x="3657600" y="731520"/>
            <a:ext cx="1828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Part 5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3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Reference Tables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3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Algorithm ও DS — Quick Reference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4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3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Sorting Algorithms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74" name="Google Shape;474;p34"/>
          <p:cNvGraphicFramePr/>
          <p:nvPr/>
        </p:nvGraphicFramePr>
        <p:xfrm>
          <a:off x="274320" y="822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{7DC78D54-6915-4378-A96A-827B0C334992}</a:tableStyleId>
              </a:tblPr>
              <a:tblGrid>
                <a:gridCol w="1645925"/>
                <a:gridCol w="1188725"/>
                <a:gridCol w="1188725"/>
                <a:gridCol w="1188725"/>
                <a:gridCol w="1005850"/>
                <a:gridCol w="822950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Trebuchet M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Algorithm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Trebuchet M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Best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Trebuchet M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Average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Trebuchet M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Worst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Trebuchet M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Space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Trebuchet M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Stable?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000"/>
                        <a:buFont typeface="Trebuchet M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72A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Bubble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O(n)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O(n²)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O(n²)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O(1)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2C5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000"/>
                        <a:buFont typeface="Trebuchet M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72A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Selection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O(n²)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O(n²)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O(n²)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O(1)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000"/>
                        <a:buFont typeface="Trebuchet M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72A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Insertion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O(n)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O(n²)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O(n²)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O(1)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2C5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000"/>
                        <a:buFont typeface="Trebuchet M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72A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Merge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O(n lg n)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O(n lg n)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O(n lg n)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O(n)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2C5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000"/>
                        <a:buFont typeface="Trebuchet M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72A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Quick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O(n lg n)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O(n lg n)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O(n²)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O(lg n)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000"/>
                        <a:buFont typeface="Trebuchet M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72A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Heap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O(n lg n)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O(n lg n)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O(n lg n)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O(1)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000"/>
                        <a:buFont typeface="Trebuchet M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72A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Counting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O(n+k)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O(n+k)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O(n+k)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O(k)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2C5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35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Data Structure Operations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82" name="Google Shape;482;p35"/>
          <p:cNvGraphicFramePr/>
          <p:nvPr/>
        </p:nvGraphicFramePr>
        <p:xfrm>
          <a:off x="274320" y="822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{7DC78D54-6915-4378-A96A-827B0C334992}</a:tableStyleId>
              </a:tblPr>
              <a:tblGrid>
                <a:gridCol w="1463050"/>
                <a:gridCol w="914400"/>
                <a:gridCol w="914400"/>
                <a:gridCol w="914400"/>
                <a:gridCol w="914400"/>
                <a:gridCol w="2560325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Trebuchet M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DS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Trebuchet M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Access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Trebuchet M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Search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Trebuchet M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Insert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Trebuchet M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Delete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Trebuchet M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কখন?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000"/>
                        <a:buFont typeface="Trebuchet M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72A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Array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O(1)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O(n)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O(n)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O(n)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94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access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000"/>
                        <a:buFont typeface="Trebuchet M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72A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HashMap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O(1)*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O(1)*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O(1)*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94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Fast lookup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000"/>
                        <a:buFont typeface="Trebuchet M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72A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BST balanced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O(lg n)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O(lg n)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O(lg n)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O(lg n)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94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Sorted order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000"/>
                        <a:buFont typeface="Trebuchet M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72A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Heap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O(1) top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O(n)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O(lg n)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O(lg n)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94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Min/Max fast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000"/>
                        <a:buFont typeface="Trebuchet M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72A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Stack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O(n)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O(n)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O(1)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O(1)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94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LIFO, DFS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000"/>
                        <a:buFont typeface="Trebuchet M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72A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Queue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O(n)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O(n)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O(1)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O(1)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94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FIFO, BFS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6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36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Graph Algorithms &amp; Techniques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90" name="Google Shape;490;p36"/>
          <p:cNvGraphicFramePr/>
          <p:nvPr/>
        </p:nvGraphicFramePr>
        <p:xfrm>
          <a:off x="457200" y="822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{7DC78D54-6915-4378-A96A-827B0C334992}</a:tableStyleId>
              </a:tblPr>
              <a:tblGrid>
                <a:gridCol w="2011675"/>
                <a:gridCol w="2103125"/>
                <a:gridCol w="4114800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Trebuchet M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Algorithm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Trebuchet M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Time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Trebuchet M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কাজ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000"/>
                        <a:buFont typeface="Trebuchet M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72A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BFS/DFS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Trebuchet M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948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O(V+E)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Traversal, shortest unweighted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000"/>
                        <a:buFont typeface="Trebuchet M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72A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Dijkstra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Trebuchet M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948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O((V+E)lg V)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Shortest path, no neg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000"/>
                        <a:buFont typeface="Trebuchet M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72A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Bellman-Ford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Trebuchet M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948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O(V×E)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Shortest path, neg ok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000"/>
                        <a:buFont typeface="Trebuchet M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72A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Floyd-Warshall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Trebuchet M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948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O(V³)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All-pairs shortest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000"/>
                        <a:buFont typeface="Trebuchet M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72A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Kruskal/Prim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Trebuchet M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948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O(E lg E)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MST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1" name="Google Shape;491;p36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Technique Paradigms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36"/>
          <p:cNvSpPr/>
          <p:nvPr/>
        </p:nvSpPr>
        <p:spPr>
          <a:xfrm>
            <a:off x="457200" y="3246120"/>
            <a:ext cx="265176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36"/>
          <p:cNvSpPr/>
          <p:nvPr/>
        </p:nvSpPr>
        <p:spPr>
          <a:xfrm>
            <a:off x="457200" y="3246120"/>
            <a:ext cx="54864" cy="685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36"/>
          <p:cNvSpPr/>
          <p:nvPr/>
        </p:nvSpPr>
        <p:spPr>
          <a:xfrm>
            <a:off x="594360" y="324612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Two Pointer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36"/>
          <p:cNvSpPr/>
          <p:nvPr/>
        </p:nvSpPr>
        <p:spPr>
          <a:xfrm>
            <a:off x="1920240" y="324612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O(n)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36"/>
          <p:cNvSpPr/>
          <p:nvPr/>
        </p:nvSpPr>
        <p:spPr>
          <a:xfrm>
            <a:off x="594360" y="36118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Sorted pair search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6"/>
          <p:cNvSpPr/>
          <p:nvPr/>
        </p:nvSpPr>
        <p:spPr>
          <a:xfrm>
            <a:off x="3291840" y="3246120"/>
            <a:ext cx="265176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6"/>
          <p:cNvSpPr/>
          <p:nvPr/>
        </p:nvSpPr>
        <p:spPr>
          <a:xfrm>
            <a:off x="3291840" y="3246120"/>
            <a:ext cx="54864" cy="685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36"/>
          <p:cNvSpPr/>
          <p:nvPr/>
        </p:nvSpPr>
        <p:spPr>
          <a:xfrm>
            <a:off x="3429000" y="324612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Sliding Window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36"/>
          <p:cNvSpPr/>
          <p:nvPr/>
        </p:nvSpPr>
        <p:spPr>
          <a:xfrm>
            <a:off x="4754880" y="324612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O(n)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36"/>
          <p:cNvSpPr/>
          <p:nvPr/>
        </p:nvSpPr>
        <p:spPr>
          <a:xfrm>
            <a:off x="3429000" y="36118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Subarray max/min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6"/>
          <p:cNvSpPr/>
          <p:nvPr/>
        </p:nvSpPr>
        <p:spPr>
          <a:xfrm>
            <a:off x="6126480" y="3246120"/>
            <a:ext cx="265176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36"/>
          <p:cNvSpPr/>
          <p:nvPr/>
        </p:nvSpPr>
        <p:spPr>
          <a:xfrm>
            <a:off x="6126480" y="3246120"/>
            <a:ext cx="54864" cy="685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36"/>
          <p:cNvSpPr/>
          <p:nvPr/>
        </p:nvSpPr>
        <p:spPr>
          <a:xfrm>
            <a:off x="6263640" y="324612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Binary Search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6"/>
          <p:cNvSpPr/>
          <p:nvPr/>
        </p:nvSpPr>
        <p:spPr>
          <a:xfrm>
            <a:off x="7589520" y="324612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O(lg 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6"/>
          <p:cNvSpPr/>
          <p:nvPr/>
        </p:nvSpPr>
        <p:spPr>
          <a:xfrm>
            <a:off x="6263640" y="36118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Sorted 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36"/>
          <p:cNvSpPr/>
          <p:nvPr/>
        </p:nvSpPr>
        <p:spPr>
          <a:xfrm>
            <a:off x="457200" y="4114800"/>
            <a:ext cx="265176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36"/>
          <p:cNvSpPr/>
          <p:nvPr/>
        </p:nvSpPr>
        <p:spPr>
          <a:xfrm>
            <a:off x="457200" y="4114800"/>
            <a:ext cx="54864" cy="685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36"/>
          <p:cNvSpPr/>
          <p:nvPr/>
        </p:nvSpPr>
        <p:spPr>
          <a:xfrm>
            <a:off x="594360" y="411480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Greedy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6"/>
          <p:cNvSpPr/>
          <p:nvPr/>
        </p:nvSpPr>
        <p:spPr>
          <a:xfrm>
            <a:off x="1920240" y="411480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varies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36"/>
          <p:cNvSpPr/>
          <p:nvPr/>
        </p:nvSpPr>
        <p:spPr>
          <a:xfrm>
            <a:off x="594360" y="448056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Locally optimal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36"/>
          <p:cNvSpPr/>
          <p:nvPr/>
        </p:nvSpPr>
        <p:spPr>
          <a:xfrm>
            <a:off x="3291840" y="4114800"/>
            <a:ext cx="265176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36"/>
          <p:cNvSpPr/>
          <p:nvPr/>
        </p:nvSpPr>
        <p:spPr>
          <a:xfrm>
            <a:off x="3291840" y="4114800"/>
            <a:ext cx="54864" cy="685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36"/>
          <p:cNvSpPr/>
          <p:nvPr/>
        </p:nvSpPr>
        <p:spPr>
          <a:xfrm>
            <a:off x="3429000" y="411480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DP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36"/>
          <p:cNvSpPr/>
          <p:nvPr/>
        </p:nvSpPr>
        <p:spPr>
          <a:xfrm>
            <a:off x="4754880" y="411480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O(n²)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36"/>
          <p:cNvSpPr/>
          <p:nvPr/>
        </p:nvSpPr>
        <p:spPr>
          <a:xfrm>
            <a:off x="3429000" y="448056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Overlapping sub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6"/>
          <p:cNvSpPr/>
          <p:nvPr/>
        </p:nvSpPr>
        <p:spPr>
          <a:xfrm>
            <a:off x="6126480" y="4114800"/>
            <a:ext cx="265176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36"/>
          <p:cNvSpPr/>
          <p:nvPr/>
        </p:nvSpPr>
        <p:spPr>
          <a:xfrm>
            <a:off x="6126480" y="4114800"/>
            <a:ext cx="54864" cy="685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6"/>
          <p:cNvSpPr/>
          <p:nvPr/>
        </p:nvSpPr>
        <p:spPr>
          <a:xfrm>
            <a:off x="6263640" y="411480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Backtracking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36"/>
          <p:cNvSpPr/>
          <p:nvPr/>
        </p:nvSpPr>
        <p:spPr>
          <a:xfrm>
            <a:off x="7589520" y="411480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O(2ⁿ)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36"/>
          <p:cNvSpPr/>
          <p:nvPr/>
        </p:nvSpPr>
        <p:spPr>
          <a:xfrm>
            <a:off x="6263640" y="448056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Explore &amp; prune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3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37"/>
          <p:cNvSpPr/>
          <p:nvPr/>
        </p:nvSpPr>
        <p:spPr>
          <a:xfrm>
            <a:off x="3657600" y="731520"/>
            <a:ext cx="1828800" cy="1828800"/>
          </a:xfrm>
          <a:prstGeom prst="ellipse">
            <a:avLst/>
          </a:prstGeom>
          <a:solidFill>
            <a:srgbClr val="0D9488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37"/>
          <p:cNvSpPr/>
          <p:nvPr/>
        </p:nvSpPr>
        <p:spPr>
          <a:xfrm>
            <a:off x="3657600" y="731520"/>
            <a:ext cx="1828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Part 6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37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Practice Problems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37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Code দেখে Complexity বলো!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8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38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Practice Set 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8"/>
          <p:cNvSpPr/>
          <p:nvPr/>
        </p:nvSpPr>
        <p:spPr>
          <a:xfrm>
            <a:off x="457200" y="822960"/>
            <a:ext cx="402336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38"/>
          <p:cNvSpPr/>
          <p:nvPr/>
        </p:nvSpPr>
        <p:spPr>
          <a:xfrm>
            <a:off x="457200" y="822960"/>
            <a:ext cx="40233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38"/>
          <p:cNvSpPr/>
          <p:nvPr/>
        </p:nvSpPr>
        <p:spPr>
          <a:xfrm>
            <a:off x="548640" y="9326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Q1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38"/>
          <p:cNvSpPr/>
          <p:nvPr/>
        </p:nvSpPr>
        <p:spPr>
          <a:xfrm>
            <a:off x="548640" y="123444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for(i=1; i&lt;=n; i*=2)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print(i);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38"/>
          <p:cNvSpPr/>
          <p:nvPr/>
        </p:nvSpPr>
        <p:spPr>
          <a:xfrm>
            <a:off x="548640" y="192024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22C55E"/>
                </a:solidFill>
                <a:latin typeface="Trebuchet MS"/>
                <a:ea typeface="Trebuchet MS"/>
                <a:cs typeface="Trebuchet MS"/>
                <a:sym typeface="Trebuchet MS"/>
              </a:rPr>
              <a:t>O(log n), Space O(1)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38"/>
          <p:cNvSpPr/>
          <p:nvPr/>
        </p:nvSpPr>
        <p:spPr>
          <a:xfrm>
            <a:off x="548640" y="224028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 doubles → log n iterations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38"/>
          <p:cNvSpPr/>
          <p:nvPr/>
        </p:nvSpPr>
        <p:spPr>
          <a:xfrm>
            <a:off x="4754880" y="822960"/>
            <a:ext cx="402336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38"/>
          <p:cNvSpPr/>
          <p:nvPr/>
        </p:nvSpPr>
        <p:spPr>
          <a:xfrm>
            <a:off x="4754880" y="822960"/>
            <a:ext cx="40233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38"/>
          <p:cNvSpPr/>
          <p:nvPr/>
        </p:nvSpPr>
        <p:spPr>
          <a:xfrm>
            <a:off x="4846320" y="9326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Q2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38"/>
          <p:cNvSpPr/>
          <p:nvPr/>
        </p:nvSpPr>
        <p:spPr>
          <a:xfrm>
            <a:off x="4846320" y="123444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for(i=0;i&lt;n;i++)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for(j=0;j&lt;i;j++)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 print;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38"/>
          <p:cNvSpPr/>
          <p:nvPr/>
        </p:nvSpPr>
        <p:spPr>
          <a:xfrm>
            <a:off x="4846320" y="192024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22C55E"/>
                </a:solidFill>
                <a:latin typeface="Trebuchet MS"/>
                <a:ea typeface="Trebuchet MS"/>
                <a:cs typeface="Trebuchet MS"/>
                <a:sym typeface="Trebuchet MS"/>
              </a:rPr>
              <a:t>O(n²), Space O(1)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38"/>
          <p:cNvSpPr/>
          <p:nvPr/>
        </p:nvSpPr>
        <p:spPr>
          <a:xfrm>
            <a:off x="4846320" y="224028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0+1+...+(n-1) = n(n-1)/2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38"/>
          <p:cNvSpPr/>
          <p:nvPr/>
        </p:nvSpPr>
        <p:spPr>
          <a:xfrm>
            <a:off x="457200" y="2834640"/>
            <a:ext cx="402336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38"/>
          <p:cNvSpPr/>
          <p:nvPr/>
        </p:nvSpPr>
        <p:spPr>
          <a:xfrm>
            <a:off x="457200" y="2834640"/>
            <a:ext cx="40233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38"/>
          <p:cNvSpPr/>
          <p:nvPr/>
        </p:nvSpPr>
        <p:spPr>
          <a:xfrm>
            <a:off x="548640" y="29443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Q3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38"/>
          <p:cNvSpPr/>
          <p:nvPr/>
        </p:nvSpPr>
        <p:spPr>
          <a:xfrm>
            <a:off x="548640" y="324612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j=0;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for(i=0;i&lt;n;i++)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while(j&lt;n) j++;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38"/>
          <p:cNvSpPr/>
          <p:nvPr/>
        </p:nvSpPr>
        <p:spPr>
          <a:xfrm>
            <a:off x="548640" y="39319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22C55E"/>
                </a:solidFill>
                <a:latin typeface="Trebuchet MS"/>
                <a:ea typeface="Trebuchet MS"/>
                <a:cs typeface="Trebuchet MS"/>
                <a:sym typeface="Trebuchet MS"/>
              </a:rPr>
              <a:t>O(n), Space O(1)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38"/>
          <p:cNvSpPr/>
          <p:nvPr/>
        </p:nvSpPr>
        <p:spPr>
          <a:xfrm>
            <a:off x="548640" y="425196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while total n বার, not n²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38"/>
          <p:cNvSpPr/>
          <p:nvPr/>
        </p:nvSpPr>
        <p:spPr>
          <a:xfrm>
            <a:off x="4754880" y="2834640"/>
            <a:ext cx="402336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38"/>
          <p:cNvSpPr/>
          <p:nvPr/>
        </p:nvSpPr>
        <p:spPr>
          <a:xfrm>
            <a:off x="4754880" y="2834640"/>
            <a:ext cx="40233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38"/>
          <p:cNvSpPr/>
          <p:nvPr/>
        </p:nvSpPr>
        <p:spPr>
          <a:xfrm>
            <a:off x="4846320" y="29443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Q4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38"/>
          <p:cNvSpPr/>
          <p:nvPr/>
        </p:nvSpPr>
        <p:spPr>
          <a:xfrm>
            <a:off x="4846320" y="324612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void f(int n) {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if(n&lt;=0) return;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f(n-1); f(n-1);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38"/>
          <p:cNvSpPr/>
          <p:nvPr/>
        </p:nvSpPr>
        <p:spPr>
          <a:xfrm>
            <a:off x="4846320" y="39319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22C55E"/>
                </a:solidFill>
                <a:latin typeface="Trebuchet MS"/>
                <a:ea typeface="Trebuchet MS"/>
                <a:cs typeface="Trebuchet MS"/>
                <a:sym typeface="Trebuchet MS"/>
              </a:rPr>
              <a:t>O(2ⁿ), Space O(n)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38"/>
          <p:cNvSpPr/>
          <p:nvPr/>
        </p:nvSpPr>
        <p:spPr>
          <a:xfrm>
            <a:off x="4846320" y="425196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 calls/level, depth 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39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Practice Set 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39"/>
          <p:cNvSpPr/>
          <p:nvPr/>
        </p:nvSpPr>
        <p:spPr>
          <a:xfrm>
            <a:off x="457200" y="822960"/>
            <a:ext cx="402336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39"/>
          <p:cNvSpPr/>
          <p:nvPr/>
        </p:nvSpPr>
        <p:spPr>
          <a:xfrm>
            <a:off x="457200" y="822960"/>
            <a:ext cx="40233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39"/>
          <p:cNvSpPr/>
          <p:nvPr/>
        </p:nvSpPr>
        <p:spPr>
          <a:xfrm>
            <a:off x="548640" y="9326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Q5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39"/>
          <p:cNvSpPr/>
          <p:nvPr/>
        </p:nvSpPr>
        <p:spPr>
          <a:xfrm>
            <a:off x="548640" y="123444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for(i=n;i&gt;0;i/=2)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for(j=0;j&lt;n;j++)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 print;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39"/>
          <p:cNvSpPr/>
          <p:nvPr/>
        </p:nvSpPr>
        <p:spPr>
          <a:xfrm>
            <a:off x="548640" y="192024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22C55E"/>
                </a:solidFill>
                <a:latin typeface="Trebuchet MS"/>
                <a:ea typeface="Trebuchet MS"/>
                <a:cs typeface="Trebuchet MS"/>
                <a:sym typeface="Trebuchet MS"/>
              </a:rPr>
              <a:t>O(n log n), Space O(1)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39"/>
          <p:cNvSpPr/>
          <p:nvPr/>
        </p:nvSpPr>
        <p:spPr>
          <a:xfrm>
            <a:off x="548640" y="224028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outer log n, inner 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39"/>
          <p:cNvSpPr/>
          <p:nvPr/>
        </p:nvSpPr>
        <p:spPr>
          <a:xfrm>
            <a:off x="4754880" y="822960"/>
            <a:ext cx="402336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39"/>
          <p:cNvSpPr/>
          <p:nvPr/>
        </p:nvSpPr>
        <p:spPr>
          <a:xfrm>
            <a:off x="4754880" y="822960"/>
            <a:ext cx="40233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39"/>
          <p:cNvSpPr/>
          <p:nvPr/>
        </p:nvSpPr>
        <p:spPr>
          <a:xfrm>
            <a:off x="4846320" y="9326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Q6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39"/>
          <p:cNvSpPr/>
          <p:nvPr/>
        </p:nvSpPr>
        <p:spPr>
          <a:xfrm>
            <a:off x="4846320" y="123444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int f(n) {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if(n&lt;=1) return 1;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return f(n/2)+f(n/2);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39"/>
          <p:cNvSpPr/>
          <p:nvPr/>
        </p:nvSpPr>
        <p:spPr>
          <a:xfrm>
            <a:off x="4846320" y="192024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22C55E"/>
                </a:solidFill>
                <a:latin typeface="Trebuchet MS"/>
                <a:ea typeface="Trebuchet MS"/>
                <a:cs typeface="Trebuchet MS"/>
                <a:sym typeface="Trebuchet MS"/>
              </a:rPr>
              <a:t>O(n), Space O(log 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39"/>
          <p:cNvSpPr/>
          <p:nvPr/>
        </p:nvSpPr>
        <p:spPr>
          <a:xfrm>
            <a:off x="4846320" y="224028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 calls but size halves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39"/>
          <p:cNvSpPr/>
          <p:nvPr/>
        </p:nvSpPr>
        <p:spPr>
          <a:xfrm>
            <a:off x="457200" y="2834640"/>
            <a:ext cx="402336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39"/>
          <p:cNvSpPr/>
          <p:nvPr/>
        </p:nvSpPr>
        <p:spPr>
          <a:xfrm>
            <a:off x="457200" y="2834640"/>
            <a:ext cx="40233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39"/>
          <p:cNvSpPr/>
          <p:nvPr/>
        </p:nvSpPr>
        <p:spPr>
          <a:xfrm>
            <a:off x="548640" y="29443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Q7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39"/>
          <p:cNvSpPr/>
          <p:nvPr/>
        </p:nvSpPr>
        <p:spPr>
          <a:xfrm>
            <a:off x="548640" y="324612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set&lt;int&gt; s;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for(i=0;i&lt;n;i++)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s.insert(arr[i]);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// s.insert = O(log n)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39"/>
          <p:cNvSpPr/>
          <p:nvPr/>
        </p:nvSpPr>
        <p:spPr>
          <a:xfrm>
            <a:off x="548640" y="39319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22C55E"/>
                </a:solidFill>
                <a:latin typeface="Trebuchet MS"/>
                <a:ea typeface="Trebuchet MS"/>
                <a:cs typeface="Trebuchet MS"/>
                <a:sym typeface="Trebuchet MS"/>
              </a:rPr>
              <a:t>O(n log n), Space O(n)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39"/>
          <p:cNvSpPr/>
          <p:nvPr/>
        </p:nvSpPr>
        <p:spPr>
          <a:xfrm>
            <a:off x="548640" y="425196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 inserts × log n each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39"/>
          <p:cNvSpPr/>
          <p:nvPr/>
        </p:nvSpPr>
        <p:spPr>
          <a:xfrm>
            <a:off x="4754880" y="2834640"/>
            <a:ext cx="402336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39"/>
          <p:cNvSpPr/>
          <p:nvPr/>
        </p:nvSpPr>
        <p:spPr>
          <a:xfrm>
            <a:off x="4754880" y="2834640"/>
            <a:ext cx="40233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39"/>
          <p:cNvSpPr/>
          <p:nvPr/>
        </p:nvSpPr>
        <p:spPr>
          <a:xfrm>
            <a:off x="4846320" y="29443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Q8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39"/>
          <p:cNvSpPr/>
          <p:nvPr/>
        </p:nvSpPr>
        <p:spPr>
          <a:xfrm>
            <a:off x="4846320" y="324612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bool dp[n][n];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for(i...) for(j...)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dp[i][j] = ...;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// 2D DP table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39"/>
          <p:cNvSpPr/>
          <p:nvPr/>
        </p:nvSpPr>
        <p:spPr>
          <a:xfrm>
            <a:off x="4846320" y="39319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22C55E"/>
                </a:solidFill>
                <a:latin typeface="Trebuchet MS"/>
                <a:ea typeface="Trebuchet MS"/>
                <a:cs typeface="Trebuchet MS"/>
                <a:sym typeface="Trebuchet MS"/>
              </a:rPr>
              <a:t>O(n²), Space O(n²)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39"/>
          <p:cNvSpPr/>
          <p:nvPr/>
        </p:nvSpPr>
        <p:spPr>
          <a:xfrm>
            <a:off x="4846320" y="425196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n×n table — time &amp; space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4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4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Interview Tips — Final Weapons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40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40"/>
          <p:cNvSpPr/>
          <p:nvPr/>
        </p:nvSpPr>
        <p:spPr>
          <a:xfrm>
            <a:off x="640080" y="105156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0"/>
          <p:cNvSpPr/>
          <p:nvPr/>
        </p:nvSpPr>
        <p:spPr>
          <a:xfrm>
            <a:off x="640080" y="10515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40"/>
          <p:cNvSpPr/>
          <p:nvPr/>
        </p:nvSpPr>
        <p:spPr>
          <a:xfrm>
            <a:off x="1371600" y="960120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Brute Force → Optimize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40"/>
          <p:cNvSpPr/>
          <p:nvPr/>
        </p:nvSpPr>
        <p:spPr>
          <a:xfrm>
            <a:off x="1371600" y="1325880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"O(n²) brute force দেখাই, তারপর HashMap দিয়ে O(n) করি"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40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0"/>
          <p:cNvSpPr/>
          <p:nvPr/>
        </p:nvSpPr>
        <p:spPr>
          <a:xfrm>
            <a:off x="640080" y="205740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40"/>
          <p:cNvSpPr/>
          <p:nvPr/>
        </p:nvSpPr>
        <p:spPr>
          <a:xfrm>
            <a:off x="640080" y="20574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40"/>
          <p:cNvSpPr/>
          <p:nvPr/>
        </p:nvSpPr>
        <p:spPr>
          <a:xfrm>
            <a:off x="1371600" y="1965960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Concrete Numbers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40"/>
          <p:cNvSpPr/>
          <p:nvPr/>
        </p:nvSpPr>
        <p:spPr>
          <a:xfrm>
            <a:off x="1371600" y="2331720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"n=10⁵ তে O(n²) = 10¹⁰ → ~100 sec. Too slow!"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40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40"/>
          <p:cNvSpPr/>
          <p:nvPr/>
        </p:nvSpPr>
        <p:spPr>
          <a:xfrm>
            <a:off x="640080" y="306324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40"/>
          <p:cNvSpPr/>
          <p:nvPr/>
        </p:nvSpPr>
        <p:spPr>
          <a:xfrm>
            <a:off x="640080" y="30632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40"/>
          <p:cNvSpPr/>
          <p:nvPr/>
        </p:nvSpPr>
        <p:spPr>
          <a:xfrm>
            <a:off x="1371600" y="2971800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Trade-off Discuss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40"/>
          <p:cNvSpPr/>
          <p:nvPr/>
        </p:nvSpPr>
        <p:spPr>
          <a:xfrm>
            <a:off x="1371600" y="3337560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"Time O(n) but extra O(n) space. Which preferred?"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40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40"/>
          <p:cNvSpPr/>
          <p:nvPr/>
        </p:nvSpPr>
        <p:spPr>
          <a:xfrm>
            <a:off x="640080" y="406908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40"/>
          <p:cNvSpPr/>
          <p:nvPr/>
        </p:nvSpPr>
        <p:spPr>
          <a:xfrm>
            <a:off x="640080" y="40690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40"/>
          <p:cNvSpPr/>
          <p:nvPr/>
        </p:nvSpPr>
        <p:spPr>
          <a:xfrm>
            <a:off x="1371600" y="3977640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 Range → Approach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40"/>
          <p:cNvSpPr/>
          <p:nvPr/>
        </p:nvSpPr>
        <p:spPr>
          <a:xfrm>
            <a:off x="1371600" y="4343400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"n ≤ 10⁵ means O(n log n) is fine. Let me use sorting."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4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4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41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Summary — কী শিখলে আজকে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41"/>
          <p:cNvSpPr/>
          <p:nvPr/>
        </p:nvSpPr>
        <p:spPr>
          <a:xfrm>
            <a:off x="685800" y="228600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Time: O(1), O(log n), O(√n), O(n), O(n log n), O(n²), O(n³), O(2ⁿ), O(n!)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41"/>
          <p:cNvSpPr/>
          <p:nvPr/>
        </p:nvSpPr>
        <p:spPr>
          <a:xfrm>
            <a:off x="5166360" y="228600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Space: Auxiliary vs Total, Recursion Stack, Trade-off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41"/>
          <p:cNvSpPr/>
          <p:nvPr/>
        </p:nvSpPr>
        <p:spPr>
          <a:xfrm>
            <a:off x="685800" y="288036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Big O / Ω / Θ — Average vs Amortized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41"/>
          <p:cNvSpPr/>
          <p:nvPr/>
        </p:nvSpPr>
        <p:spPr>
          <a:xfrm>
            <a:off x="5166360" y="288036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NP Complete, NP Hard — P = NP?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41"/>
          <p:cNvSpPr/>
          <p:nvPr/>
        </p:nvSpPr>
        <p:spPr>
          <a:xfrm>
            <a:off x="685800" y="347472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Sorting, DS, Graph — Reference Tables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41"/>
          <p:cNvSpPr/>
          <p:nvPr/>
        </p:nvSpPr>
        <p:spPr>
          <a:xfrm>
            <a:off x="5166360" y="347472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Practice Problems — Code → Complexity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41"/>
          <p:cNvSpPr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Happy coding &amp; good luck with your interviews! 🚀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